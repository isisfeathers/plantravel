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8CdwOEgxf5ALhytqr/jIBJUn2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" name="Google Shape;2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8" name="Google Shape;13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095750" y="0"/>
            <a:ext cx="404812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2976475"/>
            <a:ext cx="1219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532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品牌名稱提案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609600" y="361950"/>
            <a:ext cx="9525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34E6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Atrip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972800" y="40005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34E6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09600" y="100965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347FA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 Trip ＋ AI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09600" y="1619250"/>
            <a:ext cx="5334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讀音接近英文 a trip，使用者即使沒有發現 AI 彩蛋，也能直接聯想到一趟旅行。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09600" y="2781300"/>
            <a:ext cx="4857750" cy="2457450"/>
          </a:xfrm>
          <a:prstGeom prst="roundRect">
            <a:avLst>
              <a:gd fmla="val 85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95350" y="3048000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品牌個性</a:t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95350" y="3467100"/>
            <a:ext cx="43242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輕盈、年輕，旅行感最直接。適合以淡色目的地照片搭配乾淨介面。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95350" y="4362450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需要補強</a:t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95350" y="4743450"/>
            <a:ext cx="4324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名稱本身的規劃感較弱，需由副標與行程介面補充。</a:t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191250" y="1181100"/>
            <a:ext cx="5391150" cy="4057650"/>
          </a:xfrm>
          <a:prstGeom prst="roundRect">
            <a:avLst>
              <a:gd fmla="val 6103" name="adj"/>
            </a:avLst>
          </a:prstGeom>
          <a:solidFill>
            <a:srgbClr val="234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743700" y="2047875"/>
            <a:ext cx="12382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347FA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7867650" y="2047875"/>
            <a:ext cx="11430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</a:t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8991600" y="2047875"/>
            <a:ext cx="4953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347FA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</a:t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9505950" y="2047875"/>
            <a:ext cx="11430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</a:t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6724650" y="3638550"/>
            <a:ext cx="4324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藏在 A 與 i</a:t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724650" y="4171950"/>
            <a:ext cx="4324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7E6E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建議副標：你的 AI 自由行規劃夥伴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609600" y="361950"/>
            <a:ext cx="9525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Atrip 的藍色與綠色版本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0972800" y="40005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</a:t>
            </a:r>
            <a:endParaRPr/>
          </a:p>
        </p:txBody>
      </p:sp>
      <p:pic>
        <p:nvPicPr>
          <p:cNvPr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1614" t="0"/>
          <a:stretch/>
        </p:blipFill>
        <p:spPr>
          <a:xfrm>
            <a:off x="1009650" y="1104900"/>
            <a:ext cx="4386000" cy="4457700"/>
          </a:xfrm>
          <a:prstGeom prst="roundRect">
            <a:avLst>
              <a:gd fmla="val 4274" name="adj"/>
            </a:avLst>
          </a:prstGeom>
          <a:noFill/>
          <a:ln>
            <a:noFill/>
          </a:ln>
        </p:spPr>
      </p:pic>
      <p:pic>
        <p:nvPicPr>
          <p:cNvPr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50" y="1104900"/>
            <a:ext cx="4457700" cy="4457700"/>
          </a:xfrm>
          <a:prstGeom prst="roundRect">
            <a:avLst>
              <a:gd fmla="val 4274" name="adj"/>
            </a:avLst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819150" y="5676900"/>
            <a:ext cx="1428750" cy="323850"/>
          </a:xfrm>
          <a:prstGeom prst="roundRect">
            <a:avLst>
              <a:gd fmla="val 50000" name="adj"/>
            </a:avLst>
          </a:prstGeom>
          <a:solidFill>
            <a:srgbClr val="E6F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33450" y="5695950"/>
            <a:ext cx="1200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34E6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BLUE  智慧清爽</a:t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534150" y="5676900"/>
            <a:ext cx="1428750" cy="323850"/>
          </a:xfrm>
          <a:prstGeom prst="roundRect">
            <a:avLst>
              <a:gd fmla="val 50000" name="adj"/>
            </a:avLst>
          </a:prstGeom>
          <a:solidFill>
            <a:srgbClr val="E8E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648450" y="5695950"/>
            <a:ext cx="1200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4C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GREEN  自然陪伴</a:t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428875" y="5638800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347F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943225" y="5619750"/>
            <a:ext cx="114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旅行藍</a:t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2943225" y="5819775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#347FA3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143875" y="5638800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6F8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658225" y="5619750"/>
            <a:ext cx="114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鼠尾草綠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658225" y="5819775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#6F8F72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789250" y="3974725"/>
            <a:ext cx="1200300" cy="13548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514650" y="3974725"/>
            <a:ext cx="1200300" cy="13548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609600" y="361950"/>
            <a:ext cx="9525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74C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Planit</a:t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10972800" y="40005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74C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05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09600" y="10096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6F8F7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Plan it ＋ AI </a:t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09600" y="1619250"/>
            <a:ext cx="5429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Plan it 傳達把旅行安排好，也帶有 planet 的世界探索聯想。名稱較理性，規劃功能更明確。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09600" y="2781300"/>
            <a:ext cx="4857750" cy="2457450"/>
          </a:xfrm>
          <a:prstGeom prst="roundRect">
            <a:avLst>
              <a:gd fmla="val 85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95350" y="3048000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品牌個性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895350" y="3467100"/>
            <a:ext cx="4095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有秩序、可靠，適合時間軸、行程卡片與可編輯的每日規劃。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95350" y="4362450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需要補強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95350" y="4743450"/>
            <a:ext cx="409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第一次看到未必知道專門做旅行，需要以照片與中文副標提示。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191250" y="1181100"/>
            <a:ext cx="5391150" cy="4057650"/>
          </a:xfrm>
          <a:prstGeom prst="roundRect">
            <a:avLst>
              <a:gd fmla="val 6103" name="adj"/>
            </a:avLst>
          </a:prstGeom>
          <a:solidFill>
            <a:srgbClr val="274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705600" y="2047875"/>
            <a:ext cx="12001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Pl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905750" y="2047875"/>
            <a:ext cx="7048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6F8F7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610600" y="2047875"/>
            <a:ext cx="8382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9448800" y="2047875"/>
            <a:ext cx="4572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6F8F7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9906000" y="2047875"/>
            <a:ext cx="7239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724650" y="3638550"/>
            <a:ext cx="4324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藏在 a 與 i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724650" y="4171950"/>
            <a:ext cx="4324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DBE6D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建議副標：把每一趟旅行安排好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609600" y="361950"/>
            <a:ext cx="9525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Planit 的藍色與綠色版本</a:t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10972800" y="40005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06</a:t>
            </a:r>
            <a:endParaRPr/>
          </a:p>
        </p:txBody>
      </p:sp>
      <p:pic>
        <p:nvPicPr>
          <p:cNvPr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650" y="1104900"/>
            <a:ext cx="4457700" cy="4457700"/>
          </a:xfrm>
          <a:prstGeom prst="roundRect">
            <a:avLst>
              <a:gd fmla="val 4274" name="adj"/>
            </a:avLst>
          </a:prstGeom>
          <a:noFill/>
          <a:ln>
            <a:noFill/>
          </a:ln>
        </p:spPr>
      </p:pic>
      <p:pic>
        <p:nvPicPr>
          <p:cNvPr id="90" name="Google Shape;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50" y="1104900"/>
            <a:ext cx="4457700" cy="4457700"/>
          </a:xfrm>
          <a:prstGeom prst="roundRect">
            <a:avLst>
              <a:gd fmla="val 4274" name="adj"/>
            </a:avLst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819150" y="5676900"/>
            <a:ext cx="1428750" cy="323850"/>
          </a:xfrm>
          <a:prstGeom prst="roundRect">
            <a:avLst>
              <a:gd fmla="val 50000" name="adj"/>
            </a:avLst>
          </a:prstGeom>
          <a:solidFill>
            <a:srgbClr val="E6F0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33450" y="5695950"/>
            <a:ext cx="1200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34E6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BLUE  專業效率</a:t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534150" y="5676900"/>
            <a:ext cx="1428750" cy="323850"/>
          </a:xfrm>
          <a:prstGeom prst="roundRect">
            <a:avLst>
              <a:gd fmla="val 50000" name="adj"/>
            </a:avLst>
          </a:prstGeom>
          <a:solidFill>
            <a:srgbClr val="E8E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648450" y="5695950"/>
            <a:ext cx="1200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74C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GREEN  安排有序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2428875" y="5638800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347F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2943225" y="5619750"/>
            <a:ext cx="114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旅行藍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2943225" y="5819775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#347FA3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143875" y="5638800"/>
            <a:ext cx="400050" cy="400050"/>
          </a:xfrm>
          <a:prstGeom prst="roundRect">
            <a:avLst>
              <a:gd fmla="val 50000" name="adj"/>
            </a:avLst>
          </a:prstGeom>
          <a:solidFill>
            <a:srgbClr val="6F8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658225" y="5619750"/>
            <a:ext cx="114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鼠尾草綠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658225" y="5819775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#6F8F72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789250" y="3974725"/>
            <a:ext cx="1200300" cy="13548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9514650" y="3974725"/>
            <a:ext cx="1200300" cy="13548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609600" y="361950"/>
            <a:ext cx="9525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帶路吧  dailuba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0972800" y="40005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07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09600" y="1009650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D783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中文主品牌＋拼音網址識別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09600" y="1619250"/>
            <a:ext cx="5619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「帶路吧」像朋友邀請一起出發。dailuba 保留中文發音，適合網址與社群帳號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609600" y="2781300"/>
            <a:ext cx="4857750" cy="2457450"/>
          </a:xfrm>
          <a:prstGeom prst="roundRect">
            <a:avLst>
              <a:gd fmla="val 85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895350" y="3048000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品牌個性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895350" y="3467100"/>
            <a:ext cx="4095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親切、活潑，中文使用者最容易理解與記住。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95350" y="4267200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需要補強</a:t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895350" y="4648200"/>
            <a:ext cx="4095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容易讓人先想到導航，因此 Logo 與介面需強調行程節點、每日安排與完成勾選。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191250" y="1181100"/>
            <a:ext cx="5391150" cy="4057650"/>
          </a:xfrm>
          <a:prstGeom prst="roundRect">
            <a:avLst>
              <a:gd fmla="val 6103" name="adj"/>
            </a:avLst>
          </a:prstGeom>
          <a:solidFill>
            <a:srgbClr val="274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667500" y="1952625"/>
            <a:ext cx="4438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帶路吧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124700" y="3162300"/>
            <a:ext cx="3524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6F8F7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○ ─ ○ ─ ✓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743700" y="3952875"/>
            <a:ext cx="4286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CE7D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dailuba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743700" y="4457700"/>
            <a:ext cx="4286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DCE7D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網址建議：dailuba.tw ／ dailuba.app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609600" y="361950"/>
            <a:ext cx="9525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帶路吧的藍色與綠色網站視覺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10972800" y="40005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08</a:t>
            </a:r>
            <a:endParaRPr/>
          </a:p>
        </p:txBody>
      </p:sp>
      <p:pic>
        <p:nvPicPr>
          <p:cNvPr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5346" r="5346" t="0"/>
          <a:stretch/>
        </p:blipFill>
        <p:spPr>
          <a:xfrm>
            <a:off x="533400" y="1066800"/>
            <a:ext cx="5410200" cy="4038600"/>
          </a:xfrm>
          <a:prstGeom prst="roundRect">
            <a:avLst>
              <a:gd fmla="val 4717" name="adj"/>
            </a:avLst>
          </a:prstGeom>
          <a:noFill/>
          <a:ln>
            <a:noFill/>
          </a:ln>
        </p:spPr>
      </p:pic>
      <p:pic>
        <p:nvPicPr>
          <p:cNvPr id="130" name="Google Shape;130;p8"/>
          <p:cNvPicPr preferRelativeResize="0"/>
          <p:nvPr/>
        </p:nvPicPr>
        <p:blipFill rotWithShape="1">
          <a:blip r:embed="rId4">
            <a:alphaModFix/>
          </a:blip>
          <a:srcRect b="0" l="5346" r="5346" t="0"/>
          <a:stretch/>
        </p:blipFill>
        <p:spPr>
          <a:xfrm>
            <a:off x="6248400" y="1066800"/>
            <a:ext cx="5410200" cy="4038600"/>
          </a:xfrm>
          <a:prstGeom prst="roundRect">
            <a:avLst>
              <a:gd fmla="val 4717" name="adj"/>
            </a:avLst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742950" y="531495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34E6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藍色版</a:t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742950" y="5676900"/>
            <a:ext cx="447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像智慧旅遊服務，機票與資訊功能更俐落。</a:t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6457950" y="531495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4C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綠色版</a:t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6457950" y="5676900"/>
            <a:ext cx="447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像陪伴型旅行品牌，照片與中文名稱更柔和。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609600" y="361950"/>
            <a:ext cx="9525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三個名稱的核心差異</a:t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10972800" y="400050"/>
            <a:ext cx="609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09</a:t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723900" y="1295400"/>
            <a:ext cx="171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名稱</a:t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2838450" y="1295400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第一印象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429250" y="1295400"/>
            <a:ext cx="247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最適合的品牌感</a:t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382000" y="1295400"/>
            <a:ext cx="2857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主要風險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609600" y="1809750"/>
            <a:ext cx="10972800" cy="990600"/>
          </a:xfrm>
          <a:prstGeom prst="roundRect">
            <a:avLst>
              <a:gd fmla="val 173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781050" y="2028825"/>
            <a:ext cx="180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34E6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Atrip</a:t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2838450" y="2047875"/>
            <a:ext cx="2190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旅行感最直接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5429250" y="2047875"/>
            <a:ext cx="247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輕盈、國際化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8382000" y="2047875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規劃感需靠副標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609600" y="3086100"/>
            <a:ext cx="10972800" cy="990600"/>
          </a:xfrm>
          <a:prstGeom prst="roundRect">
            <a:avLst>
              <a:gd fmla="val 173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781050" y="3305175"/>
            <a:ext cx="180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74C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Planit</a:t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2838450" y="3324225"/>
            <a:ext cx="2190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規劃概念最明確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5429250" y="3324225"/>
            <a:ext cx="247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可靠、有秩序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8382000" y="3324225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旅行感需靠視覺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609600" y="4362450"/>
            <a:ext cx="10972800" cy="990600"/>
          </a:xfrm>
          <a:prstGeom prst="roundRect">
            <a:avLst>
              <a:gd fmla="val 17308" name="adj"/>
            </a:avLst>
          </a:prstGeom>
          <a:solidFill>
            <a:srgbClr val="E8E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781050" y="4581525"/>
            <a:ext cx="180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帶路吧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2838450" y="4600575"/>
            <a:ext cx="2190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6372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中文最親切易懂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429250" y="4600575"/>
            <a:ext cx="247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活潑、有陪伴感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8382000" y="4600575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A746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需避免導航印象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